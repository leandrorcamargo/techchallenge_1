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a7c06cdc8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9a7c06cdc8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9a7c06cdc8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a7c06cdc8_2_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9a7c06cdc8_2_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9a7c06cdc8_2_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a7c06cdc8_2_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9a7c06cdc8_2_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a7c06cdc8_2_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7c06cdc8_2_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9a7c06cdc8_2_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7c06cdc8_2_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c06cdc8_2_1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a7c06cdc8_2_1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a7c06cdc8_2_1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a7c06cdc8_2_1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9a7c06cdc8_2_1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a7c06cdc8_2_1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a7c06cdc8_2_1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9a7c06cdc8_2_1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9a7c06cdc8_2_1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a7c06cdc8_2_1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9a7c06cdc8_2_1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9a7c06cdc8_2_1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a7c06cdc8_2_2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9a7c06cdc8_2_2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9a7c06cdc8_2_2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2D1B69"/>
          </a:solidFill>
          <a:ln cap="flat" cmpd="sng" w="12700">
            <a:solidFill>
              <a:srgbClr val="2D1B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-11437"/>
            <a:ext cx="4755000" cy="5143500"/>
          </a:xfrm>
          <a:prstGeom prst="rect">
            <a:avLst/>
          </a:prstGeom>
          <a:solidFill>
            <a:srgbClr val="7C3AED">
              <a:alpha val="70196"/>
            </a:srgbClr>
          </a:solidFill>
          <a:ln cap="flat" cmpd="sng" w="12700">
            <a:solidFill>
              <a:srgbClr val="7C3AE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0" y="3200400"/>
            <a:ext cx="4755000" cy="19431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A78BF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365760" y="73152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pt-BR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65760" y="1691640"/>
            <a:ext cx="4114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4000"/>
              <a:buFont typeface="Calibri"/>
              <a:buNone/>
            </a:pPr>
            <a:r>
              <a:rPr b="1" i="0" lang="pt-BR" sz="40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PREDITIVO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20110" y="251456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Como prever a satisfação do cliente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antes mesmo da pesquisa acontecer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320060" y="3300960"/>
            <a:ext cx="1645800" cy="36600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320038" y="3545463"/>
            <a:ext cx="41148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 Challenge · Fase 1</a:t>
            </a:r>
            <a:b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Felipe Vieira Sanches - RM370630</a:t>
            </a:r>
            <a:b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Filipe Noberto Justino - RM372969</a:t>
            </a:r>
            <a:b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Isabelle Nicole Santana de Brito - RM370228</a:t>
            </a:r>
            <a:b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Leandro Rebes Camargo - RM373557</a:t>
            </a:r>
            <a:br>
              <a:rPr b="0" i="0" lang="pt-B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029200" y="822960"/>
            <a:ext cx="365760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5120640" y="10058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NPS ATUAL DA EMPRESA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5029200" y="13716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0"/>
              <a:buFont typeface="Calibri"/>
              <a:buNone/>
            </a:pPr>
            <a:r>
              <a:rPr b="1" i="0" lang="pt-BR" sz="9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pt-BR" sz="90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pt-BR" sz="9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6.3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760720" y="2834640"/>
            <a:ext cx="2194560" cy="365760"/>
          </a:xfrm>
          <a:prstGeom prst="roundRect">
            <a:avLst>
              <a:gd fmla="val 20000" name="adj"/>
            </a:avLst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5760720" y="28346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  situação crítica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029200" y="3337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pt-BR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Empresas saudáveis: entre +30 e +70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074920" y="4434840"/>
            <a:ext cx="1143000" cy="548640"/>
          </a:xfrm>
          <a:prstGeom prst="rect">
            <a:avLst/>
          </a:prstGeom>
          <a:solidFill>
            <a:srgbClr val="EEF1FA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074920" y="4434840"/>
            <a:ext cx="114300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5074920" y="448970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pt-BR" sz="1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pt-BR" sz="16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i="0" lang="pt-BR" sz="1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074920" y="478231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Detratores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6281928" y="4434840"/>
            <a:ext cx="1143000" cy="548640"/>
          </a:xfrm>
          <a:prstGeom prst="rect">
            <a:avLst/>
          </a:prstGeom>
          <a:solidFill>
            <a:srgbClr val="EEF1FA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6281928" y="4434840"/>
            <a:ext cx="11430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6281928" y="448970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lang="pt-BR" sz="16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7.6</a:t>
            </a:r>
            <a:r>
              <a:rPr b="1" i="0" lang="pt-BR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281928" y="478231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Neutros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7488936" y="4434840"/>
            <a:ext cx="1143000" cy="548640"/>
          </a:xfrm>
          <a:prstGeom prst="rect">
            <a:avLst/>
          </a:prstGeom>
          <a:solidFill>
            <a:srgbClr val="EEF1FA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7488936" y="4434840"/>
            <a:ext cx="114300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7488936" y="448970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488936" y="4782312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pt-BR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Promotores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PROBLEMA DE NEGÓCIO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400"/>
              <a:buFont typeface="Calibri"/>
              <a:buNone/>
            </a:pPr>
            <a:r>
              <a:rPr b="1" i="0" lang="pt-BR" sz="24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Por que precisamos agir antes da pesquisa?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65760" y="1325880"/>
            <a:ext cx="2651760" cy="3200400"/>
          </a:xfrm>
          <a:prstGeom prst="rect">
            <a:avLst/>
          </a:prstGeom>
          <a:solidFill>
            <a:srgbClr val="F3EE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365760" y="1325880"/>
            <a:ext cx="2651760" cy="6400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6576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pt-BR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02920" y="22860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Volume crescente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02920" y="278892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e-commerce cresceu rapidamente, aumentando pedidos, entregas e interações</a:t>
            </a:r>
            <a:r>
              <a:rPr lang="pt-BR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criando novos desafios na experiência do cliente.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3200400" y="1325880"/>
            <a:ext cx="2651760" cy="3200400"/>
          </a:xfrm>
          <a:prstGeom prst="rect">
            <a:avLst/>
          </a:prstGeom>
          <a:solidFill>
            <a:srgbClr val="FFF0F7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3200400" y="1325880"/>
            <a:ext cx="2651760" cy="64008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320040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pt-BR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337560" y="22860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NPS instável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3337560" y="278892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NPS varia muito entre perfis de clientes. Alguns viram promotores, outros detratores</a:t>
            </a:r>
            <a:r>
              <a:rPr lang="pt-BR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sem causa aparente.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035040" y="1325880"/>
            <a:ext cx="2651760" cy="320040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6035040" y="1325880"/>
            <a:ext cx="265176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603504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pt-BR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6172200" y="22860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Ação sempre tardia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6172200" y="278892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NPS só é coletado após a compra. A empresa não consegue agir preventivamente</a:t>
            </a:r>
            <a:r>
              <a:rPr lang="pt-BR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pt-BR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problema já ocorreu quando é descoberto.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EEF1FA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❓  Pergunta central: como identificar quem vai ser detrator ANTES da pesquisa acontecer?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QUEM SÃO NOSSOS CLIENTES?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200"/>
              <a:buFont typeface="Calibri"/>
              <a:buNone/>
            </a:pPr>
            <a:r>
              <a:rPr b="1" i="0" lang="pt-BR" sz="22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Distribuição atual do NPS na base de 2.500 clientes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577840" y="1143000"/>
            <a:ext cx="3200400" cy="109728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577840" y="1143000"/>
            <a:ext cx="109728" cy="10972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5760720" y="1216152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Calibri"/>
              <a:buNone/>
            </a:pPr>
            <a:r>
              <a:rPr b="1" lang="pt-BR" sz="36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pt-BR" sz="3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4.4%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7022590" y="1234440"/>
            <a:ext cx="169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Detratores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7022590" y="1623058"/>
            <a:ext cx="169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2.109 </a:t>
            </a:r>
            <a:r>
              <a:rPr b="0" i="0" lang="pt-BR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577840" y="2377440"/>
            <a:ext cx="3200400" cy="109728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577840" y="2377440"/>
            <a:ext cx="109728" cy="10972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760720" y="2450592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Calibri"/>
              <a:buNone/>
            </a:pPr>
            <a:r>
              <a:rPr b="1" lang="pt-BR" sz="36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7.6</a:t>
            </a:r>
            <a:r>
              <a:rPr b="1" i="0" lang="pt-BR" sz="3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949440" y="2468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Neutros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949440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190</a:t>
            </a:r>
            <a:r>
              <a:rPr b="0" i="0" lang="pt-BR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clientes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5577840" y="3611880"/>
            <a:ext cx="3200400" cy="109728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5577840" y="3611880"/>
            <a:ext cx="109728" cy="10972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760720" y="3685032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Calibri"/>
              <a:buNone/>
            </a:pPr>
            <a:r>
              <a:rPr b="1" i="0" lang="pt-BR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949440" y="37033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Promotores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949440" y="41148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201 clientes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5577840" y="4663440"/>
            <a:ext cx="3200400" cy="347472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577840" y="46634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NPS geral = -</a:t>
            </a:r>
            <a:r>
              <a:rPr b="1" lang="pt-BR" sz="11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pt-BR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6.3  |  meta: acima de +30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50" y="1234430"/>
            <a:ext cx="4064496" cy="3741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PRINCIPAL FATOR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200"/>
              <a:buFont typeface="Calibri"/>
              <a:buNone/>
            </a:pPr>
            <a:r>
              <a:rPr b="1" i="0" lang="pt-BR" sz="22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Atraso na entrega: o vilão que mais derruba o NPS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27432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NPS médio por Faixa de Atraso na Entrega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5577840" y="1097280"/>
            <a:ext cx="3200400" cy="109728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577840" y="1097280"/>
            <a:ext cx="109728" cy="10972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5760720" y="114300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400"/>
              <a:buFont typeface="Calibri"/>
              <a:buNone/>
            </a:pPr>
            <a:r>
              <a:rPr b="1" i="0" lang="pt-BR" sz="3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lang="pt-BR" sz="34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pt-BR" sz="3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lang="pt-BR" sz="34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pt-BR" sz="3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760720" y="169164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dos detratores tiveram atraso na entrega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5577840" y="2331720"/>
            <a:ext cx="3200400" cy="109728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577840" y="2331720"/>
            <a:ext cx="109728" cy="1097280"/>
          </a:xfrm>
          <a:prstGeom prst="rect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760720" y="237744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400"/>
              <a:buFont typeface="Calibri"/>
              <a:buNone/>
            </a:pPr>
            <a:r>
              <a:rPr b="1" i="0" lang="pt-BR" sz="3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-0.60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760720" y="292608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correlação atraso × NPS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577840" y="3566160"/>
            <a:ext cx="3200400" cy="109728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577840" y="3566160"/>
            <a:ext cx="109728" cy="10972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60720" y="361188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400"/>
              <a:buFont typeface="Calibri"/>
              <a:buNone/>
            </a:pPr>
            <a:r>
              <a:rPr b="1" i="0" lang="pt-BR" sz="3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3,</a:t>
            </a:r>
            <a:r>
              <a:rPr b="1" lang="pt-BR" sz="34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pt-BR" sz="3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760720" y="416052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mais atraso: detratores vs promotores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00" y="1359730"/>
            <a:ext cx="4253757" cy="2913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INSIGHT SURPRESA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200"/>
              <a:buFont typeface="Calibri"/>
              <a:buNone/>
            </a:pPr>
            <a:r>
              <a:rPr b="1" i="0" lang="pt-BR" sz="22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O problema não é o prazo</a:t>
            </a:r>
            <a:r>
              <a:rPr b="1" lang="pt-BR" sz="2200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pt-BR" sz="22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 é a promessa quebrada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57200" y="118872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tempo total de entrega é praticamente igual entre todos os grupos (</a:t>
            </a:r>
            <a:r>
              <a:rPr lang="pt-BR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em média de </a:t>
            </a:r>
            <a:r>
              <a:rPr b="0" i="0" lang="pt-BR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dias). O que varia é o quanto esse prazo foi respeitado.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48640" y="1828800"/>
            <a:ext cx="3291840" cy="219456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48640" y="1828800"/>
            <a:ext cx="3291840" cy="73152"/>
          </a:xfrm>
          <a:prstGeom prst="rect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48640" y="193852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PROMETIDO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48640" y="228600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5200"/>
              <a:buFont typeface="Calibri"/>
              <a:buNone/>
            </a:pPr>
            <a:r>
              <a:rPr b="1" i="0" lang="pt-BR" sz="52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4 dias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931920" y="2103120"/>
            <a:ext cx="1280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6400"/>
              <a:buFont typeface="Calibri"/>
              <a:buNone/>
            </a:pPr>
            <a:r>
              <a:rPr b="1" i="0" lang="pt-BR" sz="6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≠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5303520" y="1828800"/>
            <a:ext cx="3291840" cy="219456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303520" y="1828800"/>
            <a:ext cx="3291840" cy="7315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303520" y="193852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ENTREGUE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303520" y="228600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5200"/>
              <a:buFont typeface="Calibri"/>
              <a:buNone/>
            </a:pPr>
            <a:r>
              <a:rPr b="1" i="0" lang="pt-BR" sz="5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 dias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💡  Clientes aceitam esperar 8 dias se isso foi prometido. O que gera detratores é prometer 4 e entregar em 8. A solução: prazos realistas.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IMPACTO NO NEGÓCIO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200"/>
              <a:buFont typeface="Calibri"/>
              <a:buNone/>
            </a:pPr>
            <a:r>
              <a:rPr b="1" i="0" lang="pt-BR" sz="22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A experiência define se o cliente fica ou abandona a marca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74320" y="431596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i="1" lang="pt-BR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NPS Médio: Clientes com e sem Recompra (30 dias)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440680" y="1097280"/>
            <a:ext cx="3337560" cy="109728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440680" y="1097280"/>
            <a:ext cx="109728" cy="109728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623560" y="117043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🔄  Recompra zero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623560" y="155448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Nenhum detrator recomprou em 30 dias. 100% dos promotores recompraram. A experiência é o motor da fidelidade.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440680" y="2331720"/>
            <a:ext cx="3337560" cy="109728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440680" y="2331720"/>
            <a:ext cx="109728" cy="1097280"/>
          </a:xfrm>
          <a:prstGeom prst="rect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623560" y="240487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📢  Boca a boca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623560" y="27889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Promotores indicam a marca gratuitamente. Detratores afastam clientes potenciais com avaliações negativas.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440680" y="3566160"/>
            <a:ext cx="3337560" cy="109728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440680" y="3566160"/>
            <a:ext cx="109728" cy="10972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623560" y="36393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📊  Market share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623560" y="40233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NPS baixo = perda gradual de clientes para concorrentes. A empresa perde terreno sem perceber.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50" y="1249680"/>
            <a:ext cx="4360877" cy="2913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RECOMENDAÇÕES PRÁTICAS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200"/>
              <a:buFont typeface="Calibri"/>
              <a:buNone/>
            </a:pPr>
            <a:r>
              <a:rPr b="1" i="0" lang="pt-BR" sz="22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4 ações concretas para melhorar o NPS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365760" y="1234440"/>
            <a:ext cx="4206240" cy="169164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365760" y="1234440"/>
            <a:ext cx="4206240" cy="640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02920" y="1371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87552" y="137160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02920" y="16916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Revise os prazos prometidos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02920" y="2075688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Adote prazos realistas. Entregar antes do prazo gera promotores. Mesmo 1 dia de atraso já impacta o NPS negativamente.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754880" y="1234440"/>
            <a:ext cx="4206240" cy="169164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4754880" y="1234440"/>
            <a:ext cx="4206240" cy="64008"/>
          </a:xfrm>
          <a:prstGeom prst="rect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4892040" y="1371600"/>
            <a:ext cx="384048" cy="384048"/>
          </a:xfrm>
          <a:prstGeom prst="ellipse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4892040" y="1371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376672" y="137160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ATENDIMENTO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892040" y="16916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Reduza reclamações na raiz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892040" y="2075688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Detratores fazem 2x mais reclamações. Investigar os motivos frequentes e resolvê-los sistematicamente reduz o NPS negativo.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65760" y="3108960"/>
            <a:ext cx="4206240" cy="169164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365760" y="3108960"/>
            <a:ext cx="420624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02920" y="3246120"/>
            <a:ext cx="384048" cy="38404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987552" y="32461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ESTRATÉGIA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02920" y="356616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Monitore detratores antes da pesquisa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502920" y="3950208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Um modelo preditivo identifica clientes em risco </a:t>
            </a:r>
            <a:r>
              <a:rPr lang="pt-BR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da pesquisa</a:t>
            </a:r>
            <a:r>
              <a:rPr lang="pt-BR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p</a:t>
            </a: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ermitindo desconto, prioridade de entrega ou contato preventivo.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754880" y="3108960"/>
            <a:ext cx="4206240" cy="169164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4754880" y="3108960"/>
            <a:ext cx="4206240" cy="6400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4892040" y="3246120"/>
            <a:ext cx="384048" cy="38404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4892040" y="32461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376672" y="32461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892040" y="356616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O produto não é o 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892040" y="3950208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100% dos promotores recomprara</a:t>
            </a:r>
            <a:r>
              <a:rPr lang="pt-BR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m, logo </a:t>
            </a: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produto agrada. O gargalo está na operação logística e no atendimento.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LIMITAÇÕES E CUIDADOS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E"/>
              </a:buClr>
              <a:buSzPts val="2200"/>
              <a:buFont typeface="Calibri"/>
              <a:buNone/>
            </a:pPr>
            <a:r>
              <a:rPr b="1" i="0" lang="pt-BR" sz="2200" u="none" cap="none" strike="noStrike">
                <a:solidFill>
                  <a:srgbClr val="1A1D2E"/>
                </a:solidFill>
                <a:latin typeface="Calibri"/>
                <a:ea typeface="Calibri"/>
                <a:cs typeface="Calibri"/>
                <a:sym typeface="Calibri"/>
              </a:rPr>
              <a:t>O que considerar antes de agir com base nesses dados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65760" y="1234440"/>
            <a:ext cx="4206240" cy="169164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365760" y="1234440"/>
            <a:ext cx="420624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502920" y="13716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097280" y="13716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Viés de não-resposta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02920" y="1892808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Quem não responde a pesquisa tende a ser o mais satisfeito ou mais insatisfeito. Isso pode distorcer a amostra e não refletir a realidade completa.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4754880" y="1234440"/>
            <a:ext cx="4206240" cy="169164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4754880" y="1234440"/>
            <a:ext cx="4206240" cy="640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4892040" y="13716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486400" y="13716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Data Leakage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892040" y="1892808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Variáveis como o csat_internal_score podem ter sido calculadas usando o próprio NPS. Usar esse dado seria como fazer a prova com o gabarito na mão.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365760" y="3108960"/>
            <a:ext cx="4206240" cy="169164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365760" y="3108960"/>
            <a:ext cx="4206240" cy="64008"/>
          </a:xfrm>
          <a:prstGeom prst="rect">
            <a:avLst/>
          </a:prstGeom>
          <a:solidFill>
            <a:srgbClr val="4F46E5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02920" y="32461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1097280" y="3246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Base desbalanceada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502920" y="3767328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74% detratores. Um modelo que chute sempre 'Detrator' acerta 74%</a:t>
            </a:r>
            <a:r>
              <a:rPr lang="pt-BR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mas aprende nada. A métrica correta é F1-Score, não acurácia.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4754880" y="3108960"/>
            <a:ext cx="4206240" cy="1691640"/>
          </a:xfrm>
          <a:prstGeom prst="rect">
            <a:avLst/>
          </a:prstGeom>
          <a:solidFill>
            <a:srgbClr val="F0FDFA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4754880" y="3108960"/>
            <a:ext cx="420624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4892040" y="32461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5486400" y="3246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Dados mudam com o tempo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4892040" y="3767328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Insights são baseados em dados históricos. O comportamento do cliente evolui</a:t>
            </a:r>
            <a:r>
              <a:rPr lang="pt-BR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pt-BR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o modelo precisa ser re-treinado periodicamente para manter precisão.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E1B4B"/>
          </a:solidFill>
          <a:ln cap="flat" cmpd="sng" w="12700">
            <a:solidFill>
              <a:srgbClr val="1E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5486400" y="2782975"/>
            <a:ext cx="3657600" cy="2400300"/>
          </a:xfrm>
          <a:prstGeom prst="rect">
            <a:avLst/>
          </a:prstGeom>
          <a:solidFill>
            <a:srgbClr val="7C3AED">
              <a:alpha val="40000"/>
            </a:srgbClr>
          </a:solidFill>
          <a:ln cap="flat" cmpd="sng" w="12700">
            <a:solidFill>
              <a:srgbClr val="7C3AE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457200" y="5029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 OPORTUNIDADE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365775" y="1133853"/>
            <a:ext cx="4755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pt-BR" sz="36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 problema é claro.</a:t>
            </a:r>
            <a:endParaRPr b="0" i="0" sz="36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pt-BR" sz="36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 solução existe.</a:t>
            </a:r>
            <a:endParaRPr b="0" i="0" sz="36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365775" y="2423160"/>
            <a:ext cx="4663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350"/>
              <a:buFont typeface="Calibri"/>
              <a:buNone/>
            </a:pPr>
            <a:r>
              <a:rPr b="0" i="0" lang="pt-BR" sz="13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Os dados mostram que a empresa tem poder de agir </a:t>
            </a:r>
            <a:r>
              <a:rPr lang="pt-BR" sz="135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r>
              <a:rPr b="0" i="0" lang="pt-BR" sz="13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 que o cliente vire um detrator. A pergunta não é </a:t>
            </a:r>
            <a:r>
              <a:rPr lang="pt-BR" sz="135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se</a:t>
            </a:r>
            <a:r>
              <a:rPr b="0" i="0" lang="pt-BR" sz="13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pt-BR" sz="1350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quando</a:t>
            </a:r>
            <a:r>
              <a:rPr b="0" i="0" lang="pt-BR" sz="13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 começar.</a:t>
            </a:r>
            <a:endParaRPr b="0" i="0" sz="1350" u="none" cap="none" strike="noStrike">
              <a:solidFill>
                <a:srgbClr val="A78B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411480" y="3566160"/>
            <a:ext cx="1417320" cy="132588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411480" y="363931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411480" y="411480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Fator crítico</a:t>
            </a:r>
            <a:endParaRPr b="0" i="0" sz="1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identificado</a:t>
            </a:r>
            <a:endParaRPr b="0" i="0" sz="1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411480" y="459028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1" lang="pt-BR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Atraso na entrega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2011680" y="3566160"/>
            <a:ext cx="1417320" cy="132588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2011680" y="363931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2011680" y="411480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IA pode</a:t>
            </a:r>
            <a:endParaRPr b="1" i="0" sz="1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antecipar</a:t>
            </a:r>
            <a:endParaRPr b="1" i="0" sz="1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2011680" y="459028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1" lang="pt-BR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Modelo preditivo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3611880" y="3566160"/>
            <a:ext cx="1417320" cy="132588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3611880" y="363931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pt-B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3611880" y="411480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Retenção &gt;</a:t>
            </a:r>
            <a:endParaRPr b="0" i="0" sz="1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aquisição</a:t>
            </a:r>
            <a:endParaRPr b="0" i="0" sz="1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3611880" y="459028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0" i="1" lang="pt-BR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Custo menor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5760720" y="54864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pt-BR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5760720" y="1600200"/>
            <a:ext cx="347472" cy="34747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5760720" y="16002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6199632" y="1609344"/>
            <a:ext cx="2606040" cy="329184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6263640" y="1618488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Construir modelo preditivo de classificação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5760720" y="2404872"/>
            <a:ext cx="347472" cy="34747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5760720" y="2404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6199632" y="2414016"/>
            <a:ext cx="2606040" cy="329184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6263640" y="2423160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 variáveis sem Data Leakage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5760720" y="3209544"/>
            <a:ext cx="347472" cy="34747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5760720" y="32095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6199632" y="3218688"/>
            <a:ext cx="2606040" cy="329184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6263640" y="3227832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Implantar score de risco por cliente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5760720" y="4014216"/>
            <a:ext cx="347472" cy="34747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5760720" y="40142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6199632" y="4023360"/>
            <a:ext cx="2606040" cy="329184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6263640" y="4032504"/>
            <a:ext cx="24871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Acionar equipes com antecedência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